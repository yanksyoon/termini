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12"/>
    <p:sldId id="267" r:id="rId11"/>
    <p:sldId id="268" r:id="rId10"/>
    <p:sldId id="269" r:id="rId9"/>
    <p:sldId id="270" r:id="rId8"/>
    <p:sldId id="271" r:id="rId7"/>
    <p:sldId id="272" r:id="rId28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16.xml"/><Relationship Id="rId8" Type="http://schemas.openxmlformats.org/officeDocument/2006/relationships/slide" Target="slides/slide15.xml"/><Relationship Id="rId9" Type="http://schemas.openxmlformats.org/officeDocument/2006/relationships/slide" Target="slides/slide14.xml"/><Relationship Id="rId10" Type="http://schemas.openxmlformats.org/officeDocument/2006/relationships/slide" Target="slides/slide13.xml"/><Relationship Id="rId11" Type="http://schemas.openxmlformats.org/officeDocument/2006/relationships/slide" Target="slides/slide12.xml"/><Relationship Id="rId12" Type="http://schemas.openxmlformats.org/officeDocument/2006/relationships/slide" Target="slides/slide1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Relationship Id="rId28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hyperlink" Target="https://github.com/yanksyoon/termini" TargetMode="External"/><Relationship Id="rId4" Type="http://schemas.openxmlformats.org/officeDocument/2006/relationships/hyperlink" Target="https://termini-510609.web.app" TargetMode="External"/><Relationship Id="rId5" Type="http://schemas.openxmlformats.org/officeDocument/2006/relationships/hyperlink" Target="https://34-93-190-64.sslip.io/v1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02124"/>
                </a:solidFill>
                <a:latin typeface="Google Sans Flex Medium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202124"/>
                </a:solidFill>
                <a:latin typeface="Arial"/>
              </a:rPr>
              <a:t>Team name: </a:t>
            </a:r>
            <a:r>
              <a:rPr sz="1200">
                <a:solidFill>
                  <a:srgbClr val="5F6368"/>
                </a:solidFill>
                <a:latin typeface="Arial"/>
              </a:rPr>
              <a:t>Termini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202124"/>
                </a:solidFill>
                <a:latin typeface="Arial"/>
              </a:rPr>
              <a:t>Team leader name: </a:t>
            </a:r>
            <a:r>
              <a:rPr sz="1200">
                <a:solidFill>
                  <a:srgbClr val="5F6368"/>
                </a:solidFill>
                <a:latin typeface="Arial"/>
              </a:rPr>
              <a:t>[to be filled]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202124"/>
                </a:solidFill>
                <a:latin typeface="Arial"/>
              </a:rPr>
              <a:t>Problem Statement: </a:t>
            </a:r>
            <a:r>
              <a:rPr sz="1200">
                <a:solidFill>
                  <a:srgbClr val="5F6368"/>
                </a:solidFill>
                <a:latin typeface="Arial"/>
              </a:rPr>
              <a:t>Future of Work &amp; Enterprise Productivity — every organisation should be able to run AI on data it cannot send to a cloud.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Brief about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One clinic, one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1481328"/>
            <a:ext cx="5074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02124"/>
                </a:solidFill>
                <a:latin typeface="Arial"/>
              </a:rPr>
              <a:t>A dental clinic in Korea wanted AI for its phones, its insurance claims and its own reporting. Sending patient data to a cloud was not an option — so the owner, a biology graduate rather than a computer scientist, built the infrastructure himself.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" y="2514600"/>
            <a:ext cx="5074920" cy="82296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A73E8"/>
                </a:solidFill>
                <a:latin typeface="Arial"/>
              </a:rPr>
              <a:t>“All client data must not leave the building.”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" y="342900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5F6368"/>
                </a:solidFill>
                <a:latin typeface="Arial"/>
              </a:rPr>
              <a:t>The rule the whole build was organised around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" y="393192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1">
                <a:solidFill>
                  <a:srgbClr val="5F6368"/>
                </a:solidFill>
                <a:latin typeface="Arial"/>
              </a:rPr>
              <a:t>Phones, insurance claims, reporting and document retrieval — all running on models in the same room as the chair.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481328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202124"/>
                </a:solidFill>
                <a:latin typeface="Arial"/>
              </a:rPr>
              <a:t>6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956816"/>
            <a:ext cx="30723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6368"/>
                </a:solidFill>
                <a:latin typeface="Arial"/>
              </a:rPr>
              <a:t>of evenings, on top of dentistry — the cost of there being no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944368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88038"/>
                </a:solidFill>
                <a:latin typeface="Arial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419856"/>
            <a:ext cx="30723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6368"/>
                </a:solidFill>
                <a:latin typeface="Arial"/>
              </a:rPr>
              <a:t>client records sent off-site; phones, claims and reporting all run in the back room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" y="4590288"/>
            <a:ext cx="8613648" cy="109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6" name="TextBox 15"/>
          <p:cNvSpPr txBox="1"/>
          <p:nvPr/>
        </p:nvSpPr>
        <p:spPr>
          <a:xfrm>
            <a:off x="265176" y="4663440"/>
            <a:ext cx="8613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9AA0A6"/>
                </a:solidFill>
                <a:latin typeface="Arial"/>
              </a:rPr>
              <a:t>Source: </a:t>
            </a:r>
            <a:r>
              <a:rPr sz="800" b="0" i="0">
                <a:solidFill>
                  <a:srgbClr val="1A73E8"/>
                </a:solidFill>
                <a:latin typeface="Arial"/>
              </a:rPr>
              <a:t>arca.live/b/aihomelab/185810092</a:t>
            </a:r>
            <a:r>
              <a:rPr sz="800" b="0" i="0">
                <a:solidFill>
                  <a:srgbClr val="9AA0A6"/>
                </a:solidFill>
                <a:latin typeface="Arial"/>
              </a:rPr>
              <a:t> — “A neighbourhood dental clinic's AX transformation”, 13 Oct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Brief about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What can't leave the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1463040"/>
            <a:ext cx="8613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Arial"/>
              </a:rPr>
              <a:t>The clinic's rule is not a dental rule — it is the rule of every business whose best data is also its most restricted.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" y="1783080"/>
            <a:ext cx="2048256" cy="9601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Arial"/>
              </a:rPr>
              <a:t>Healthcare &amp; dental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5F6368"/>
                </a:solidFill>
                <a:latin typeface="Arial"/>
              </a:rPr>
              <a:t>Patient records, calls, insurance claims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1A73E8"/>
                </a:solidFill>
                <a:latin typeface="Arial"/>
              </a:rPr>
              <a:t>Front desk, adjudication,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2304" y="1783080"/>
            <a:ext cx="2048256" cy="9601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Arial"/>
              </a:rPr>
              <a:t>Banking &amp; insurance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5F6368"/>
                </a:solidFill>
                <a:latin typeface="Arial"/>
              </a:rPr>
              <a:t>KYC files, transactions, loss records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1A73E8"/>
                </a:solidFill>
                <a:latin typeface="Arial"/>
              </a:rPr>
              <a:t>Fraud triage, credit memos,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9432" y="1783080"/>
            <a:ext cx="2048256" cy="9601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Arial"/>
              </a:rPr>
              <a:t>Legal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5F6368"/>
                </a:solidFill>
                <a:latin typeface="Arial"/>
              </a:rPr>
              <a:t>Privileged matter files, client advice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1A73E8"/>
                </a:solidFill>
                <a:latin typeface="Arial"/>
              </a:rPr>
              <a:t>Contract review, discovery, drafting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783080"/>
            <a:ext cx="2048256" cy="9601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Arial"/>
              </a:rPr>
              <a:t>Manufacturing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5F6368"/>
                </a:solidFill>
                <a:latin typeface="Arial"/>
              </a:rPr>
              <a:t>Design files, process parameters, yields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1A73E8"/>
                </a:solidFill>
                <a:latin typeface="Arial"/>
              </a:rPr>
              <a:t>Quality, maintenance, planning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" y="2862072"/>
            <a:ext cx="2048256" cy="9601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Arial"/>
              </a:rPr>
              <a:t>Life sciences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5F6368"/>
                </a:solidFill>
                <a:latin typeface="Arial"/>
              </a:rPr>
              <a:t>Trial data, patient histories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1A73E8"/>
                </a:solidFill>
                <a:latin typeface="Arial"/>
              </a:rPr>
              <a:t>Protocol analysis, safety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32304" y="2862072"/>
            <a:ext cx="2048256" cy="9601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Arial"/>
              </a:rPr>
              <a:t>Public sector &amp; defence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5F6368"/>
                </a:solidFill>
                <a:latin typeface="Arial"/>
              </a:rPr>
              <a:t>Classified material, citizen records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1A73E8"/>
                </a:solidFill>
                <a:latin typeface="Arial"/>
              </a:rPr>
              <a:t>Analysis, briefings, casework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9432" y="2862072"/>
            <a:ext cx="2048256" cy="9601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Arial"/>
              </a:rPr>
              <a:t>Software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5F6368"/>
                </a:solidFill>
                <a:latin typeface="Arial"/>
              </a:rPr>
              <a:t>Source code, incident data, architecture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1A73E8"/>
                </a:solidFill>
                <a:latin typeface="Arial"/>
              </a:rPr>
              <a:t>Code agents, on-call triage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2862072"/>
            <a:ext cx="2048256" cy="9601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Arial"/>
              </a:rPr>
              <a:t>Retail &amp; commerce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5F6368"/>
                </a:solidFill>
                <a:latin typeface="Arial"/>
              </a:rPr>
              <a:t>Customer PII, supplier terms, margins</a:t>
            </a:r>
          </a:p>
          <a:p>
            <a:pPr algn="l">
              <a:spcBef>
                <a:spcPts val="200"/>
              </a:spcBef>
            </a:pPr>
            <a:r>
              <a:rPr sz="780">
                <a:solidFill>
                  <a:srgbClr val="1A73E8"/>
                </a:solidFill>
                <a:latin typeface="Arial"/>
              </a:rPr>
              <a:t>Demand, service,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" y="3986784"/>
            <a:ext cx="86136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 i="0">
                <a:solidFill>
                  <a:srgbClr val="202124"/>
                </a:solidFill>
                <a:latin typeface="Arial"/>
              </a:rPr>
              <a:t>Eight industries, one constraint: the data that would make AI useful is the data that can't be handed over.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" y="4370832"/>
            <a:ext cx="86136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5F6368"/>
                </a:solidFill>
                <a:latin typeface="Arial"/>
              </a:rPr>
              <a:t>And the result: </a:t>
            </a:r>
            <a:r>
              <a:rPr sz="950" b="1" i="0">
                <a:solidFill>
                  <a:srgbClr val="D93025"/>
                </a:solidFill>
                <a:latin typeface="Arial"/>
              </a:rPr>
              <a:t>95%</a:t>
            </a:r>
            <a:r>
              <a:rPr sz="950" b="0" i="0">
                <a:solidFill>
                  <a:srgbClr val="5F6368"/>
                </a:solidFill>
                <a:latin typeface="Arial"/>
              </a:rPr>
              <a:t> of GenAI pilots show no measurable P&amp;L impact (MIT NANDA 2025, contested) while </a:t>
            </a:r>
            <a:r>
              <a:rPr sz="950" b="1" i="0">
                <a:solidFill>
                  <a:srgbClr val="202124"/>
                </a:solidFill>
                <a:latin typeface="Arial"/>
              </a:rPr>
              <a:t>88%</a:t>
            </a:r>
            <a:r>
              <a:rPr sz="950" b="0" i="0">
                <a:solidFill>
                  <a:srgbClr val="5F6368"/>
                </a:solidFill>
                <a:latin typeface="Arial"/>
              </a:rPr>
              <a:t> of firms use AI somewhere (McKinsey 2025) — permission, operations and context are missing at once.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" y="4718304"/>
            <a:ext cx="8613648" cy="109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9" name="TextBox 18"/>
          <p:cNvSpPr txBox="1"/>
          <p:nvPr/>
        </p:nvSpPr>
        <p:spPr>
          <a:xfrm>
            <a:off x="265176" y="4782312"/>
            <a:ext cx="8613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9AA0A6"/>
                </a:solidFill>
                <a:latin typeface="Arial"/>
              </a:rPr>
              <a:t>Sources: MIT NANDA, The GenAI Divide (Jul 2025) · McKinsey, The State of AI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Brief about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Data used without permission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1463040"/>
            <a:ext cx="8613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Arial"/>
              </a:rPr>
              <a:t>The loud concern is AI replacing existing labour. The governing one arrives first: the work leaves, and comes back as someone else's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" y="1719072"/>
            <a:ext cx="2761488" cy="2084831"/>
          </a:xfrm>
          <a:prstGeom prst="roundRect">
            <a:avLst>
              <a:gd name="adj" fmla="val 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109728" rIns="109728" tIns="91440" bIns="36576"/>
          <a:lstStyle/>
          <a:p>
            <a:pPr algn="l"/>
            <a:r>
              <a:rPr sz="800" b="1">
                <a:solidFill>
                  <a:srgbClr val="B06000"/>
                </a:solidFill>
                <a:latin typeface="Arial"/>
              </a:rPr>
              <a:t>Apr 2023 · Samsung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202124"/>
                </a:solidFill>
                <a:latin typeface="Arial"/>
              </a:rPr>
              <a:t>Engineers debugged with ChatGPT</a:t>
            </a:r>
          </a:p>
          <a:p>
            <a:pPr algn="l">
              <a:spcBef>
                <a:spcPts val="400"/>
              </a:spcBef>
            </a:pPr>
            <a:r>
              <a:rPr sz="819">
                <a:solidFill>
                  <a:srgbClr val="5F6368"/>
                </a:solidFill>
                <a:latin typeface="Arial"/>
              </a:rPr>
              <a:t>Confidential source code, equipment yield data and a meeting's notes went in as prompts. Samsung restricted generative AI across its network weeks later.</a:t>
            </a:r>
          </a:p>
          <a:p>
            <a:pPr algn="l">
              <a:spcBef>
                <a:spcPts val="600"/>
              </a:spcBef>
            </a:pPr>
            <a:r>
              <a:rPr sz="760" i="1">
                <a:solidFill>
                  <a:srgbClr val="3C4043"/>
                </a:solidFill>
                <a:latin typeface="Arial"/>
              </a:rPr>
              <a:t>“Data is transmitted and stored to an external server, making it impossible for the company to retrieve it.” — Samsung memo</a:t>
            </a:r>
          </a:p>
          <a:p>
            <a:pPr algn="l">
              <a:spcBef>
                <a:spcPts val="500"/>
              </a:spcBef>
            </a:pPr>
            <a:r>
              <a:rPr sz="700">
                <a:solidFill>
                  <a:srgbClr val="1A73E8"/>
                </a:solidFill>
                <a:latin typeface="Arial"/>
              </a:rPr>
              <a:t>fortune.com · 2 May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2968" y="1719072"/>
            <a:ext cx="2761488" cy="2084831"/>
          </a:xfrm>
          <a:prstGeom prst="roundRect">
            <a:avLst>
              <a:gd name="adj" fmla="val 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109728" rIns="109728" tIns="91440" bIns="36576"/>
          <a:lstStyle/>
          <a:p>
            <a:pPr algn="l"/>
            <a:r>
              <a:rPr sz="800" b="1">
                <a:solidFill>
                  <a:srgbClr val="B06000"/>
                </a:solidFill>
                <a:latin typeface="Arial"/>
              </a:rPr>
              <a:t>Jan 2025 · DeepSeek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202124"/>
                </a:solidFill>
                <a:latin typeface="Arial"/>
              </a:rPr>
              <a:t>A database of everyone's prompts</a:t>
            </a:r>
          </a:p>
          <a:p>
            <a:pPr algn="l">
              <a:spcBef>
                <a:spcPts val="400"/>
              </a:spcBef>
            </a:pPr>
            <a:r>
              <a:rPr sz="819">
                <a:solidFill>
                  <a:srgbClr val="5F6368"/>
                </a:solidFill>
                <a:latin typeface="Arial"/>
              </a:rPr>
              <a:t>Wiz Research found an unauthenticated ClickHouse instance holding 1M+ log lines, chat history, API keys and plaintext passwords.</a:t>
            </a:r>
          </a:p>
          <a:p>
            <a:pPr algn="l">
              <a:spcBef>
                <a:spcPts val="600"/>
              </a:spcBef>
            </a:pPr>
            <a:r>
              <a:rPr sz="760" i="1">
                <a:solidFill>
                  <a:srgbClr val="3C4043"/>
                </a:solidFill>
                <a:latin typeface="Arial"/>
              </a:rPr>
              <a:t>Not a breach of the model — a copy of every conversation, reachable from the open internet.</a:t>
            </a:r>
          </a:p>
          <a:p>
            <a:pPr algn="l">
              <a:spcBef>
                <a:spcPts val="500"/>
              </a:spcBef>
            </a:pPr>
            <a:r>
              <a:rPr sz="700">
                <a:solidFill>
                  <a:srgbClr val="1A73E8"/>
                </a:solidFill>
                <a:latin typeface="Arial"/>
              </a:rPr>
              <a:t>wiz.io/blog · 29 Jan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719072"/>
            <a:ext cx="2761488" cy="2084831"/>
          </a:xfrm>
          <a:prstGeom prst="roundRect">
            <a:avLst>
              <a:gd name="adj" fmla="val 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109728" rIns="109728" tIns="91440" bIns="36576"/>
          <a:lstStyle/>
          <a:p>
            <a:pPr algn="l"/>
            <a:r>
              <a:rPr sz="800" b="1">
                <a:solidFill>
                  <a:srgbClr val="B06000"/>
                </a:solidFill>
                <a:latin typeface="Arial"/>
              </a:rPr>
              <a:t>Sep 2026 · Navier–Stokes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202124"/>
                </a:solidFill>
                <a:latin typeface="Arial"/>
              </a:rPr>
              <a:t>The credit left with the data</a:t>
            </a:r>
          </a:p>
          <a:p>
            <a:pPr algn="l">
              <a:spcBef>
                <a:spcPts val="400"/>
              </a:spcBef>
            </a:pPr>
            <a:r>
              <a:rPr sz="819">
                <a:solidFill>
                  <a:srgbClr val="5F6368"/>
                </a:solidFill>
                <a:latin typeface="Arial"/>
              </a:rPr>
              <a:t>OpenAI announced a Navier–Stokes solution its team described as using “very little human input”. Twelve hours earlier, Buckmaster said his and Alpöge's unpublished advances had leaked to the lab.</a:t>
            </a:r>
          </a:p>
          <a:p>
            <a:pPr algn="l">
              <a:spcBef>
                <a:spcPts val="600"/>
              </a:spcBef>
            </a:pPr>
            <a:r>
              <a:rPr sz="760" i="1">
                <a:solidFill>
                  <a:srgbClr val="3C4043"/>
                </a:solidFill>
                <a:latin typeface="Arial"/>
              </a:rPr>
              <a:t>A Millennium Prize result — and a priority dispute about whose work the model had read.</a:t>
            </a:r>
          </a:p>
          <a:p>
            <a:pPr algn="l">
              <a:spcBef>
                <a:spcPts val="500"/>
              </a:spcBef>
            </a:pPr>
            <a:r>
              <a:rPr sz="700">
                <a:solidFill>
                  <a:srgbClr val="1A73E8"/>
                </a:solidFill>
                <a:latin typeface="Arial"/>
              </a:rPr>
              <a:t>wikipedia.org · Sept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" y="4041648"/>
            <a:ext cx="86136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1A73E8"/>
                </a:solidFill>
                <a:latin typeface="Arial"/>
              </a:rPr>
              <a:t>How Termini closes it: </a:t>
            </a:r>
            <a:r>
              <a:rPr sz="950" b="0" i="0">
                <a:solidFill>
                  <a:srgbClr val="202124"/>
                </a:solidFill>
                <a:latin typeface="Arial"/>
              </a:rPr>
              <a:t>not a better policy, but a topology where the copy never leaves — C2 stays on the node, and what does leave is named, classified and audited.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Brief about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The loop only closes where the data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1463040"/>
            <a:ext cx="8613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Arial"/>
              </a:rPr>
              <a:t>A system improves by learning from its own outcomes. When the record lives in someone else's cloud, the loop belongs to someone else.</a:t>
            </a:r>
          </a:p>
        </p:txBody>
      </p:sp>
      <p:sp>
        <p:nvSpPr>
          <p:cNvPr id="8" name="centered-box"/>
          <p:cNvSpPr/>
          <p:nvPr/>
        </p:nvSpPr>
        <p:spPr>
          <a:xfrm>
            <a:off x="265176" y="1700784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202124"/>
                </a:solidFill>
                <a:latin typeface="Arial"/>
              </a:rPr>
              <a:t>Data owners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47088" y="1847088"/>
            <a:ext cx="173736" cy="164592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0" name="centered-box"/>
          <p:cNvSpPr/>
          <p:nvPr/>
        </p:nvSpPr>
        <p:spPr>
          <a:xfrm>
            <a:off x="2039112" y="1700784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202124"/>
                </a:solidFill>
                <a:latin typeface="Arial"/>
              </a:rPr>
              <a:t>Model builders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21024" y="1847088"/>
            <a:ext cx="173736" cy="164592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2" name="centered-box"/>
          <p:cNvSpPr/>
          <p:nvPr/>
        </p:nvSpPr>
        <p:spPr>
          <a:xfrm>
            <a:off x="3813048" y="1700784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202124"/>
                </a:solidFill>
                <a:latin typeface="Arial"/>
              </a:rPr>
              <a:t>Compute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394960" y="1847088"/>
            <a:ext cx="173736" cy="164592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4" name="centered-box"/>
          <p:cNvSpPr/>
          <p:nvPr/>
        </p:nvSpPr>
        <p:spPr>
          <a:xfrm>
            <a:off x="5586984" y="1700784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202124"/>
                </a:solidFill>
                <a:latin typeface="Arial"/>
              </a:rPr>
              <a:t>Applications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68896" y="1847088"/>
            <a:ext cx="173736" cy="164592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6" name="centered-box"/>
          <p:cNvSpPr/>
          <p:nvPr/>
        </p:nvSpPr>
        <p:spPr>
          <a:xfrm>
            <a:off x="7360919" y="1700784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202124"/>
                </a:solidFill>
                <a:latin typeface="Arial"/>
              </a:rPr>
              <a:t>Value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57616" y="2157984"/>
            <a:ext cx="0" cy="237744"/>
          </a:xfrm>
          <a:prstGeom prst="line">
            <a:avLst/>
          </a:prstGeom>
          <a:ln w="1587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355080" y="2395728"/>
            <a:ext cx="2002536" cy="0"/>
          </a:xfrm>
          <a:prstGeom prst="line">
            <a:avLst/>
          </a:prstGeom>
          <a:ln w="15875">
            <a:solidFill>
              <a:srgbClr val="BDC1C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1560" y="2157984"/>
            <a:ext cx="0" cy="237744"/>
          </a:xfrm>
          <a:prstGeom prst="line">
            <a:avLst/>
          </a:prstGeom>
          <a:ln w="1587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51560" y="2395728"/>
            <a:ext cx="2148840" cy="0"/>
          </a:xfrm>
          <a:prstGeom prst="line">
            <a:avLst/>
          </a:prstGeom>
          <a:ln w="15875">
            <a:solidFill>
              <a:srgbClr val="BDC1C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entered-box"/>
          <p:cNvSpPr/>
          <p:nvPr/>
        </p:nvSpPr>
        <p:spPr>
          <a:xfrm>
            <a:off x="3200400" y="2221992"/>
            <a:ext cx="3154680" cy="347472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 w="9525">
            <a:solidFill>
              <a:srgbClr val="1A73E8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1A73E8"/>
                </a:solidFill>
                <a:latin typeface="Arial"/>
              </a:rPr>
              <a:t>sovereign AI — the missing arc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" y="2852928"/>
            <a:ext cx="2761488" cy="100584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1000" b="1">
                <a:solidFill>
                  <a:srgbClr val="202124"/>
                </a:solidFill>
                <a:latin typeface="Arial"/>
              </a:rPr>
              <a:t>A memory that stays</a:t>
            </a:r>
          </a:p>
          <a:p>
            <a:pPr algn="l">
              <a:spcBef>
                <a:spcPts val="300"/>
              </a:spcBef>
            </a:pPr>
            <a:r>
              <a:rPr sz="819">
                <a:solidFill>
                  <a:srgbClr val="5F6368"/>
                </a:solidFill>
                <a:latin typeface="Arial"/>
              </a:rPr>
              <a:t>Outcomes, corrections and exceptions remain with the entity.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72968" y="2852928"/>
            <a:ext cx="2761488" cy="100584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1000" b="1">
                <a:solidFill>
                  <a:srgbClr val="202124"/>
                </a:solidFill>
                <a:latin typeface="Arial"/>
              </a:rPr>
              <a:t>A jury, not an oracle</a:t>
            </a:r>
          </a:p>
          <a:p>
            <a:pPr algn="l">
              <a:spcBef>
                <a:spcPts val="300"/>
              </a:spcBef>
            </a:pPr>
            <a:r>
              <a:rPr sz="819">
                <a:solidFill>
                  <a:srgbClr val="5F6368"/>
                </a:solidFill>
                <a:latin typeface="Arial"/>
              </a:rPr>
              <a:t>Several models read the same evidence; disagreement is where a person looks.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2852928"/>
            <a:ext cx="2761488" cy="100584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1000" b="1">
                <a:solidFill>
                  <a:srgbClr val="202124"/>
                </a:solidFill>
                <a:latin typeface="Arial"/>
              </a:rPr>
              <a:t>A corpus no one else has</a:t>
            </a:r>
          </a:p>
          <a:p>
            <a:pPr algn="l">
              <a:spcBef>
                <a:spcPts val="300"/>
              </a:spcBef>
            </a:pPr>
            <a:r>
              <a:rPr sz="819">
                <a:solidFill>
                  <a:srgbClr val="5F6368"/>
                </a:solidFill>
                <a:latin typeface="Arial"/>
              </a:rPr>
              <a:t>The private record no model has seen and no vendor could be given.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" y="4114800"/>
            <a:ext cx="86136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202124"/>
                </a:solidFill>
                <a:latin typeface="Arial"/>
              </a:rPr>
              <a:t>Intelligence should be plural. </a:t>
            </a:r>
            <a:r>
              <a:rPr sz="1200" b="1" i="0">
                <a:solidFill>
                  <a:srgbClr val="1A73E8"/>
                </a:solidFill>
                <a:latin typeface="Arial"/>
              </a:rPr>
              <a:t>Governance is not the tax on the loop — it is what closes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Right-size the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1463040"/>
            <a:ext cx="8613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Arial"/>
              </a:rPr>
              <a:t>Frontier models are not the answer to every task. They are the top of a ladder — and the product is the routing between the levels.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65176" y="1755648"/>
          <a:ext cx="861364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874519"/>
                <a:gridCol w="2788920"/>
                <a:gridCol w="1508760"/>
                <a:gridCol w="1024128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F6368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F6368"/>
                          </a:solidFill>
                          <a:latin typeface="Arial"/>
                        </a:rPr>
                        <a:t>Runs on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F6368"/>
                          </a:solidFill>
                          <a:latin typeface="Arial"/>
                        </a:rPr>
                        <a:t>Good at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F6368"/>
                          </a:solidFill>
                          <a:latin typeface="Arial"/>
                        </a:rPr>
                        <a:t>Data movement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F6368"/>
                          </a:solidFill>
                          <a:latin typeface="Arial"/>
                        </a:rPr>
                        <a:t>In the demo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73E8"/>
                          </a:solidFill>
                          <a:latin typeface="Arial"/>
                        </a:rPr>
                        <a:t>L0 · deterministic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5F6368"/>
                          </a:solidFill>
                          <a:latin typeface="Arial"/>
                        </a:rPr>
                        <a:t>Controller rules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Known remedies, threshold-to-action mappings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5F6368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8803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73E8"/>
                          </a:solidFill>
                          <a:latin typeface="Arial"/>
                        </a:rPr>
                        <a:t>L1 · small local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5F6368"/>
                          </a:solidFill>
                          <a:latin typeface="Arial"/>
                        </a:rPr>
                        <a:t>The node — 4B class, llama.cpp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Classify, extract, summarise, triage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5F6368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8803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73E8"/>
                          </a:solidFill>
                          <a:latin typeface="Arial"/>
                        </a:rPr>
                        <a:t>L2 · large local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5F6368"/>
                          </a:solidFill>
                          <a:latin typeface="Arial"/>
                        </a:rPr>
                        <a:t>A GPU node over your data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Reasoning specific to your domain data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5F6368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B06000"/>
                          </a:solidFill>
                          <a:latin typeface="Arial"/>
                        </a:rPr>
                        <a:t>Config only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73E8"/>
                          </a:solidFill>
                          <a:latin typeface="Arial"/>
                        </a:rPr>
                        <a:t>L3 · frontier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5F6368"/>
                          </a:solidFill>
                          <a:latin typeface="Arial"/>
                        </a:rPr>
                        <a:t>Gemini, via Vertex AI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The hardest reasoning, the smallest payload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5F6368"/>
                          </a:solidFill>
                          <a:latin typeface="Arial"/>
                        </a:rPr>
                        <a:t>Minimised C0, if permitted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8803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65176" y="4041648"/>
            <a:ext cx="86136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5F6368"/>
                </a:solidFill>
                <a:latin typeface="Arial"/>
              </a:rPr>
              <a:t>L1 triages → L3 reasons, only where policy allows → L0 executes → </a:t>
            </a:r>
            <a:r>
              <a:rPr sz="1000" b="1" i="0">
                <a:solidFill>
                  <a:srgbClr val="202124"/>
                </a:solidFill>
                <a:latin typeface="Arial"/>
              </a:rPr>
              <a:t>the audit records which level answered.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" y="4407408"/>
            <a:ext cx="8613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 i="0">
                <a:solidFill>
                  <a:srgbClr val="1A73E8"/>
                </a:solidFill>
                <a:latin typeface="Arial"/>
              </a:rPr>
              <a:t>Local is not worse — it is the right level for most of the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Delegate the operations, not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1463040"/>
            <a:ext cx="8613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Arial"/>
              </a:rPr>
              <a:t>That split is the whole proposition. Packaging, partners and pricing all follow from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" y="2057400"/>
            <a:ext cx="2761488" cy="14173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146304" rIns="73152" tIns="36576" bIns="36576"/>
          <a:lstStyle/>
          <a:p>
            <a:pPr algn="l"/>
            <a:r>
              <a:rPr sz="1100" b="1">
                <a:solidFill>
                  <a:srgbClr val="202124"/>
                </a:solidFill>
                <a:latin typeface="Arial"/>
              </a:rPr>
              <a:t>What is delegated</a:t>
            </a:r>
          </a:p>
          <a:p>
            <a:pPr algn="l">
              <a:spcBef>
                <a:spcPts val="500"/>
              </a:spcBef>
            </a:pPr>
            <a:r>
              <a:rPr sz="880">
                <a:solidFill>
                  <a:srgbClr val="5F6368"/>
                </a:solidFill>
                <a:latin typeface="Arial"/>
              </a:rPr>
              <a:t>Bootstrap, remediation, upgrades, the on-call rotation. This is the work a small firm cannot staff and a hardware owner does not want to build.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" y="2057400"/>
            <a:ext cx="45720" cy="14173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0" name="Rounded Rectangle 9"/>
          <p:cNvSpPr/>
          <p:nvPr/>
        </p:nvSpPr>
        <p:spPr>
          <a:xfrm>
            <a:off x="3172968" y="2057400"/>
            <a:ext cx="2761488" cy="14173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146304" rIns="73152" tIns="36576" bIns="36576"/>
          <a:lstStyle/>
          <a:p>
            <a:pPr algn="l"/>
            <a:r>
              <a:rPr sz="1100" b="1">
                <a:solidFill>
                  <a:srgbClr val="202124"/>
                </a:solidFill>
                <a:latin typeface="Arial"/>
              </a:rPr>
              <a:t>What is never delegated</a:t>
            </a:r>
          </a:p>
          <a:p>
            <a:pPr algn="l">
              <a:spcBef>
                <a:spcPts val="500"/>
              </a:spcBef>
            </a:pPr>
            <a:r>
              <a:rPr sz="880">
                <a:solidFill>
                  <a:srgbClr val="5F6368"/>
                </a:solidFill>
                <a:latin typeface="Arial"/>
              </a:rPr>
              <a:t>C2 payloads, transcripts, records, credentials. The data stays on the node; the controller sees only what the classification allows.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2057400"/>
            <a:ext cx="45720" cy="141732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2" name="Rounded Rectangle 11"/>
          <p:cNvSpPr/>
          <p:nvPr/>
        </p:nvSpPr>
        <p:spPr>
          <a:xfrm>
            <a:off x="6080760" y="2057400"/>
            <a:ext cx="2761488" cy="14173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146304" rIns="73152" tIns="36576" bIns="36576"/>
          <a:lstStyle/>
          <a:p>
            <a:pPr algn="l"/>
            <a:r>
              <a:rPr sz="1100" b="1">
                <a:solidFill>
                  <a:srgbClr val="202124"/>
                </a:solidFill>
                <a:latin typeface="Arial"/>
              </a:rPr>
              <a:t>Who buys which half</a:t>
            </a:r>
          </a:p>
          <a:p>
            <a:pPr algn="l">
              <a:spcBef>
                <a:spcPts val="500"/>
              </a:spcBef>
            </a:pPr>
            <a:r>
              <a:rPr sz="880">
                <a:solidFill>
                  <a:srgbClr val="5F6368"/>
                </a:solidFill>
                <a:latin typeface="Arial"/>
              </a:rPr>
              <a:t>The SME buys the outcome. The hardware owner licenses the layer so its metal is sellable as AI. Both get the same control plane.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057400"/>
            <a:ext cx="45720" cy="1417320"/>
          </a:xfrm>
          <a:prstGeom prst="rect">
            <a:avLst/>
          </a:prstGeom>
          <a:solidFill>
            <a:srgbClr val="B06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14" name="TextBox 13"/>
          <p:cNvSpPr txBox="1"/>
          <p:nvPr/>
        </p:nvSpPr>
        <p:spPr>
          <a:xfrm>
            <a:off x="265176" y="4023360"/>
            <a:ext cx="86136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5F6368"/>
                </a:solidFill>
                <a:latin typeface="Arial"/>
              </a:rPr>
              <a:t>One control plane, two buyers, one boundary — </a:t>
            </a:r>
            <a:r>
              <a:rPr sz="1200" b="1" i="0">
                <a:solidFill>
                  <a:srgbClr val="202124"/>
                </a:solidFill>
                <a:latin typeface="Arial"/>
              </a:rPr>
              <a:t>and the boundary is what makes delegation signable.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List of features offered by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Bootstrap. Operate. Prove.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1463040"/>
            <a:ext cx="8613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F6368"/>
                </a:solidFill>
                <a:latin typeface="Arial"/>
              </a:rPr>
              <a:t>The clinic needed all three, so one man built all three by hand. In Termini they are one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" y="2011680"/>
            <a:ext cx="2761488" cy="1901952"/>
          </a:xfrm>
          <a:prstGeom prst="roundRect">
            <a:avLst>
              <a:gd name="adj" fmla="val 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109728" rIns="73152" tIns="91440" bIns="36576"/>
          <a:lstStyle/>
          <a:p>
            <a:pPr algn="l"/>
            <a:r>
              <a:rPr sz="800" b="1">
                <a:solidFill>
                  <a:srgbClr val="1A73E8"/>
                </a:solidFill>
                <a:latin typeface="Arial"/>
              </a:rPr>
              <a:t>01 · Bootstrap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202124"/>
                </a:solidFill>
                <a:latin typeface="Arial"/>
              </a:rPr>
              <a:t>Hardware becomes a fleet</a:t>
            </a:r>
          </a:p>
          <a:p>
            <a:pPr algn="l">
              <a:spcBef>
                <a:spcPts val="600"/>
              </a:spcBef>
            </a:pPr>
            <a:r>
              <a:rPr sz="850">
                <a:solidFill>
                  <a:srgbClr val="5F6368"/>
                </a:solidFill>
                <a:latin typeface="Arial"/>
              </a:rPr>
              <a:t>A bare node boots the pre-baked image, registers in 150 ms, is assigned a role and joins the cluster. No installs, no specialist on site.</a:t>
            </a:r>
          </a:p>
          <a:p>
            <a:pPr algn="l">
              <a:spcBef>
                <a:spcPts val="800"/>
              </a:spcBef>
            </a:pPr>
            <a:r>
              <a:rPr sz="800" i="1">
                <a:solidFill>
                  <a:srgbClr val="B06000"/>
                </a:solidFill>
                <a:latin typeface="Arial"/>
              </a:rPr>
              <a:t>Removes: the wiring weekend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2968" y="2011680"/>
            <a:ext cx="2761488" cy="1901952"/>
          </a:xfrm>
          <a:prstGeom prst="roundRect">
            <a:avLst>
              <a:gd name="adj" fmla="val 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109728" rIns="73152" tIns="91440" bIns="36576"/>
          <a:lstStyle/>
          <a:p>
            <a:pPr algn="l"/>
            <a:r>
              <a:rPr sz="800" b="1">
                <a:solidFill>
                  <a:srgbClr val="1A73E8"/>
                </a:solidFill>
                <a:latin typeface="Arial"/>
              </a:rPr>
              <a:t>02 · Operate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202124"/>
                </a:solidFill>
                <a:latin typeface="Arial"/>
              </a:rPr>
              <a:t>An operator you don't hire</a:t>
            </a:r>
          </a:p>
          <a:p>
            <a:pPr algn="l">
              <a:spcBef>
                <a:spcPts val="600"/>
              </a:spcBef>
            </a:pPr>
            <a:r>
              <a:rPr sz="850">
                <a:solidFill>
                  <a:srgbClr val="5F6368"/>
                </a:solidFill>
                <a:latin typeface="Arial"/>
              </a:rPr>
              <a:t>An AI agent watches telemetry and makes decisions the way a data-centre operator would — restarting a runaway workload, stopping what will fill a disk — and falls back to a fixed rule when unsure.</a:t>
            </a:r>
          </a:p>
          <a:p>
            <a:pPr algn="l">
              <a:spcBef>
                <a:spcPts val="800"/>
              </a:spcBef>
            </a:pPr>
            <a:r>
              <a:rPr sz="800" i="1">
                <a:solidFill>
                  <a:srgbClr val="B06000"/>
                </a:solidFill>
                <a:latin typeface="Arial"/>
              </a:rPr>
              <a:t>Removes: the on-call rotation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011680"/>
            <a:ext cx="2761488" cy="1901952"/>
          </a:xfrm>
          <a:prstGeom prst="roundRect">
            <a:avLst>
              <a:gd name="adj" fmla="val 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109728" rIns="73152" tIns="91440" bIns="36576"/>
          <a:lstStyle/>
          <a:p>
            <a:pPr algn="l"/>
            <a:r>
              <a:rPr sz="800" b="1">
                <a:solidFill>
                  <a:srgbClr val="1A73E8"/>
                </a:solidFill>
                <a:latin typeface="Arial"/>
              </a:rPr>
              <a:t>03 · Prove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202124"/>
                </a:solidFill>
                <a:latin typeface="Arial"/>
              </a:rPr>
              <a:t>A boundary you can audit</a:t>
            </a:r>
          </a:p>
          <a:p>
            <a:pPr algn="l">
              <a:spcBef>
                <a:spcPts val="600"/>
              </a:spcBef>
            </a:pPr>
            <a:r>
              <a:rPr sz="850">
                <a:solidFill>
                  <a:srgbClr val="5F6368"/>
                </a:solidFill>
                <a:latin typeface="Arial"/>
              </a:rPr>
              <a:t>C0 / C1 / C2 classification, an on-node redactor and a fail-closed controller gate. What leaves is named, classified and logged.</a:t>
            </a:r>
          </a:p>
          <a:p>
            <a:pPr algn="l">
              <a:spcBef>
                <a:spcPts val="800"/>
              </a:spcBef>
            </a:pPr>
            <a:r>
              <a:rPr sz="800" i="1">
                <a:solidFill>
                  <a:srgbClr val="B06000"/>
                </a:solidFill>
                <a:latin typeface="Arial"/>
              </a:rPr>
              <a:t>Removes: the compliance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" y="4224528"/>
            <a:ext cx="8613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5F6368"/>
                </a:solidFill>
                <a:latin typeface="Arial"/>
              </a:rPr>
              <a:t>The clinic is the requirement. </a:t>
            </a:r>
            <a:r>
              <a:rPr sz="1100" b="1" i="0">
                <a:solidFill>
                  <a:srgbClr val="202124"/>
                </a:solidFill>
                <a:latin typeface="Arial"/>
              </a:rPr>
              <a:t>Termini is the product.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Process flow diagram or Use-case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From bare node to a governed fleet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14813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1A73E8"/>
                </a:solidFill>
                <a:latin typeface="Arial"/>
              </a:rPr>
              <a:t>DAY-0 · BRING-UP</a:t>
            </a:r>
          </a:p>
        </p:txBody>
      </p:sp>
      <p:sp>
        <p:nvSpPr>
          <p:cNvPr id="8" name="centered-box"/>
          <p:cNvSpPr/>
          <p:nvPr/>
        </p:nvSpPr>
        <p:spPr>
          <a:xfrm>
            <a:off x="265176" y="178308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02124"/>
                </a:solidFill>
                <a:latin typeface="Arial"/>
              </a:rPr>
              <a:t>Bare node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47088" y="1920240"/>
            <a:ext cx="173736" cy="164592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0" name="centered-box"/>
          <p:cNvSpPr/>
          <p:nvPr/>
        </p:nvSpPr>
        <p:spPr>
          <a:xfrm>
            <a:off x="2039112" y="178308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02124"/>
                </a:solidFill>
                <a:latin typeface="Arial"/>
              </a:rPr>
              <a:t>Pre-baked image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21024" y="1920240"/>
            <a:ext cx="173736" cy="164592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2" name="centered-box"/>
          <p:cNvSpPr/>
          <p:nvPr/>
        </p:nvSpPr>
        <p:spPr>
          <a:xfrm>
            <a:off x="3813048" y="178308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A73E8"/>
                </a:solidFill>
                <a:latin typeface="Arial"/>
              </a:rPr>
              <a:t>Registered 150 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394960" y="1920240"/>
            <a:ext cx="173736" cy="164592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4" name="centered-box"/>
          <p:cNvSpPr/>
          <p:nvPr/>
        </p:nvSpPr>
        <p:spPr>
          <a:xfrm>
            <a:off x="5586984" y="178308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02124"/>
                </a:solidFill>
                <a:latin typeface="Arial"/>
              </a:rPr>
              <a:t>Role assigned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68896" y="1920240"/>
            <a:ext cx="173736" cy="164592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6" name="centered-box"/>
          <p:cNvSpPr/>
          <p:nvPr/>
        </p:nvSpPr>
        <p:spPr>
          <a:xfrm>
            <a:off x="7360919" y="178308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02124"/>
                </a:solidFill>
                <a:latin typeface="Arial"/>
              </a:rPr>
              <a:t>Agents running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" y="2487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188038"/>
                </a:solidFill>
                <a:latin typeface="Arial"/>
              </a:rPr>
              <a:t>DAY-2 · SELF-HEALING LOOP</a:t>
            </a:r>
          </a:p>
        </p:txBody>
      </p:sp>
      <p:sp>
        <p:nvSpPr>
          <p:cNvPr id="18" name="centered-box"/>
          <p:cNvSpPr/>
          <p:nvPr/>
        </p:nvSpPr>
        <p:spPr>
          <a:xfrm>
            <a:off x="265176" y="27889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02124"/>
                </a:solidFill>
                <a:latin typeface="Arial"/>
              </a:rPr>
              <a:t>Telemetry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847088" y="2926080"/>
            <a:ext cx="173736" cy="164592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20" name="centered-box"/>
          <p:cNvSpPr/>
          <p:nvPr/>
        </p:nvSpPr>
        <p:spPr>
          <a:xfrm>
            <a:off x="2039112" y="27889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02124"/>
                </a:solidFill>
                <a:latin typeface="Arial"/>
              </a:rPr>
              <a:t>Threshold rule fires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621024" y="2926080"/>
            <a:ext cx="173736" cy="164592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22" name="centered-box"/>
          <p:cNvSpPr/>
          <p:nvPr/>
        </p:nvSpPr>
        <p:spPr>
          <a:xfrm>
            <a:off x="3813048" y="27889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02124"/>
                </a:solidFill>
                <a:latin typeface="Arial"/>
              </a:rPr>
              <a:t>Model decides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394960" y="2926080"/>
            <a:ext cx="173736" cy="164592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24" name="centered-box"/>
          <p:cNvSpPr/>
          <p:nvPr/>
        </p:nvSpPr>
        <p:spPr>
          <a:xfrm>
            <a:off x="5586984" y="27889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02124"/>
                </a:solidFill>
                <a:latin typeface="Arial"/>
              </a:rPr>
              <a:t>Audited execution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68896" y="2926080"/>
            <a:ext cx="173736" cy="164592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26" name="centered-box"/>
          <p:cNvSpPr/>
          <p:nvPr/>
        </p:nvSpPr>
        <p:spPr>
          <a:xfrm>
            <a:off x="7360919" y="27889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88038"/>
                </a:solidFill>
                <a:latin typeface="Arial"/>
              </a:rPr>
              <a:t>Audit 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" y="3520440"/>
            <a:ext cx="86136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5F6368"/>
                </a:solidFill>
                <a:latin typeface="Arial"/>
              </a:rPr>
              <a:t>The rule detects; the model decides; the executor acts; the audit row links </a:t>
            </a:r>
            <a:r>
              <a:rPr sz="1000" b="1" i="0">
                <a:solidFill>
                  <a:srgbClr val="202124"/>
                </a:solidFill>
                <a:latin typeface="Arial"/>
              </a:rPr>
              <a:t>trigger → decision → action → result.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" y="3840480"/>
            <a:ext cx="8613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5F6368"/>
                </a:solidFill>
                <a:latin typeface="Arial"/>
              </a:rPr>
              <a:t>Nothing is decided by a model that a person could not read back afterwards — and the deterministic path needs no model at all.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" y="4224528"/>
            <a:ext cx="8613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202124"/>
                </a:solidFill>
                <a:latin typeface="Arial"/>
              </a:rPr>
              <a:t>The action space is grammar-constrained: </a:t>
            </a:r>
            <a:r>
              <a:rPr sz="950" b="0" i="0">
                <a:solidFill>
                  <a:srgbClr val="5F6368"/>
                </a:solidFill>
                <a:latin typeface="Arial"/>
              </a:rPr>
              <a:t>an off-allowlist action has no valid encoding, so safety is enforced in the decoder rather than checked afterwards.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Architecture diagram of the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The architecture is the governance claim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" y="1828800"/>
            <a:ext cx="128016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850" b="1">
                <a:solidFill>
                  <a:srgbClr val="202124"/>
                </a:solidFill>
                <a:latin typeface="Arial"/>
              </a:rPr>
              <a:t>Node on premises</a:t>
            </a:r>
          </a:p>
          <a:p>
            <a:pPr algn="l"/>
            <a:r>
              <a:rPr sz="720">
                <a:solidFill>
                  <a:srgbClr val="5F6368"/>
                </a:solidFill>
                <a:latin typeface="Arial"/>
              </a:rPr>
              <a:t>C2 stays here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554480" y="2103120"/>
            <a:ext cx="155448" cy="14630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9" name="Rounded Rectangle 8"/>
          <p:cNvSpPr/>
          <p:nvPr/>
        </p:nvSpPr>
        <p:spPr>
          <a:xfrm>
            <a:off x="1728216" y="1828800"/>
            <a:ext cx="128016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850" b="1">
                <a:solidFill>
                  <a:srgbClr val="202124"/>
                </a:solidFill>
                <a:latin typeface="Arial"/>
              </a:rPr>
              <a:t>On-node redactor</a:t>
            </a:r>
          </a:p>
          <a:p>
            <a:pPr algn="l"/>
            <a:r>
              <a:rPr sz="720">
                <a:solidFill>
                  <a:srgbClr val="5F6368"/>
                </a:solidFill>
                <a:latin typeface="Arial"/>
              </a:rPr>
              <a:t>fail-closed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17520" y="2103120"/>
            <a:ext cx="155448" cy="14630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1" name="Rounded Rectangle 10"/>
          <p:cNvSpPr/>
          <p:nvPr/>
        </p:nvSpPr>
        <p:spPr>
          <a:xfrm>
            <a:off x="3191256" y="1828800"/>
            <a:ext cx="128016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850" b="1">
                <a:solidFill>
                  <a:srgbClr val="202124"/>
                </a:solidFill>
                <a:latin typeface="Arial"/>
              </a:rPr>
              <a:t>Outbound-only mTLS</a:t>
            </a:r>
          </a:p>
          <a:p>
            <a:pPr algn="l"/>
            <a:r>
              <a:rPr sz="720">
                <a:solidFill>
                  <a:srgbClr val="5F6368"/>
                </a:solidFill>
                <a:latin typeface="Arial"/>
              </a:rPr>
              <a:t>no inbound path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480560" y="2103120"/>
            <a:ext cx="155448" cy="14630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4654296" y="1828800"/>
            <a:ext cx="128016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850" b="1">
                <a:solidFill>
                  <a:srgbClr val="202124"/>
                </a:solidFill>
                <a:latin typeface="Arial"/>
              </a:rPr>
              <a:t>Controller gate</a:t>
            </a:r>
          </a:p>
          <a:p>
            <a:pPr algn="l"/>
            <a:r>
              <a:rPr sz="720">
                <a:solidFill>
                  <a:srgbClr val="5F6368"/>
                </a:solidFill>
                <a:latin typeface="Arial"/>
              </a:rPr>
              <a:t>re-verifies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3600" y="2103120"/>
            <a:ext cx="155448" cy="14630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5" name="Rounded Rectangle 14"/>
          <p:cNvSpPr/>
          <p:nvPr/>
        </p:nvSpPr>
        <p:spPr>
          <a:xfrm>
            <a:off x="6117336" y="1828800"/>
            <a:ext cx="128016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850" b="1">
                <a:solidFill>
                  <a:srgbClr val="202124"/>
                </a:solidFill>
                <a:latin typeface="Arial"/>
              </a:rPr>
              <a:t>Operator loop</a:t>
            </a:r>
          </a:p>
          <a:p>
            <a:pPr algn="l"/>
            <a:r>
              <a:rPr sz="720">
                <a:solidFill>
                  <a:srgbClr val="5F6368"/>
                </a:solidFill>
                <a:latin typeface="Arial"/>
              </a:rPr>
              <a:t>allowlisted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406640" y="2103120"/>
            <a:ext cx="155448" cy="14630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7" name="Rounded Rectangle 16"/>
          <p:cNvSpPr/>
          <p:nvPr/>
        </p:nvSpPr>
        <p:spPr>
          <a:xfrm>
            <a:off x="7580375" y="1828800"/>
            <a:ext cx="128016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850" b="1">
                <a:solidFill>
                  <a:srgbClr val="202124"/>
                </a:solidFill>
                <a:latin typeface="Arial"/>
              </a:rPr>
              <a:t>Audit chain</a:t>
            </a:r>
          </a:p>
          <a:p>
            <a:pPr algn="l"/>
            <a:r>
              <a:rPr sz="720">
                <a:solidFill>
                  <a:srgbClr val="5F6368"/>
                </a:solidFill>
                <a:latin typeface="Arial"/>
              </a:rPr>
              <a:t>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" y="2834640"/>
            <a:ext cx="4224528" cy="1143000"/>
          </a:xfrm>
          <a:prstGeom prst="roundRect">
            <a:avLst>
              <a:gd name="adj" fmla="val 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Arial"/>
              </a:rPr>
              <a:t>Substrate and channel — adopted, not invented</a:t>
            </a:r>
          </a:p>
          <a:p>
            <a:pPr algn="l">
              <a:spcBef>
                <a:spcPts val="300"/>
              </a:spcBef>
            </a:pPr>
            <a:r>
              <a:rPr sz="800">
                <a:solidFill>
                  <a:srgbClr val="5F6368"/>
                </a:solidFill>
                <a:latin typeface="Arial"/>
              </a:rPr>
              <a:t>Ubuntu and an LXD cluster across nodes; one outbound-only mTLS WebSocket per node carries heartbeat, telemetry, commands and acks. No route from an agent VM to the controller.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54296" y="2834640"/>
            <a:ext cx="4224528" cy="1143000"/>
          </a:xfrm>
          <a:prstGeom prst="roundRect">
            <a:avLst>
              <a:gd name="adj" fmla="val 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Arial"/>
              </a:rPr>
              <a:t>Boundary and loop — the two things we build</a:t>
            </a:r>
          </a:p>
          <a:p>
            <a:pPr algn="l">
              <a:spcBef>
                <a:spcPts val="300"/>
              </a:spcBef>
            </a:pPr>
            <a:r>
              <a:rPr sz="800">
                <a:solidFill>
                  <a:srgbClr val="5F6368"/>
                </a:solidFill>
                <a:latin typeface="Arial"/>
              </a:rPr>
              <a:t>A fail-closed telemetry gate that rejects a non-conforming batch rather than dropping fields, and a governed operator loop that audits every action it takes.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" y="4160520"/>
            <a:ext cx="8613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 i="0">
                <a:solidFill>
                  <a:srgbClr val="5F6368"/>
                </a:solidFill>
                <a:latin typeface="Arial"/>
              </a:rPr>
              <a:t>EU AI Act Art. 10 / 12 / 14 / 15 · GDPR Art. 25 / 32 / 44–49 · ISO/IEC 42001 · 27001 · SOC 2 Type II · HIPAA §164.312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" y="4480560"/>
            <a:ext cx="8613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1" i="0">
                <a:solidFill>
                  <a:srgbClr val="202124"/>
                </a:solidFill>
                <a:latin typeface="Arial"/>
              </a:rPr>
              <a:t>We don't certify you — we generate the evidence a certification asks for, continuously.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Architecture diagram of the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What leaves the building, exactly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65176" y="1737360"/>
          <a:ext cx="8613648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554480"/>
                <a:gridCol w="6236208"/>
              </a:tblGrid>
              <a:tr h="40005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5F6368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marL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5F6368"/>
                          </a:solidFill>
                          <a:latin typeface="Arial"/>
                        </a:rPr>
                        <a:t>Leaves?</a:t>
                      </a:r>
                    </a:p>
                  </a:txBody>
                  <a:tcPr marL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5F6368"/>
                          </a:solidFill>
                          <a:latin typeface="Arial"/>
                        </a:rPr>
                        <a:t>Contents</a:t>
                      </a:r>
                    </a:p>
                  </a:txBody>
                  <a:tcPr marL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C0</a:t>
                      </a:r>
                    </a:p>
                  </a:txBody>
                  <a:tcPr marL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Yes — allowlisted</a:t>
                      </a:r>
                    </a:p>
                  </a:txBody>
                  <a:tcPr marL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Hardware and OS health: CPU, RAM, disk, GPU, inference liveness, instance inventory, rule metrics</a:t>
                      </a:r>
                    </a:p>
                  </a:txBody>
                  <a:tcPr marL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C1</a:t>
                      </a:r>
                    </a:p>
                  </a:txBody>
                  <a:tcPr marL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Yes — transformed</a:t>
                      </a:r>
                    </a:p>
                  </a:txBody>
                  <a:tcPr marL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Salted hashes, bounded display labels, timestamps. Never raw identifiers</a:t>
                      </a:r>
                    </a:p>
                  </a:txBody>
                  <a:tcPr marL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C2</a:t>
                      </a:r>
                    </a:p>
                  </a:txBody>
                  <a:tcPr marL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D93025"/>
                          </a:solidFill>
                          <a:latin typeface="Arial"/>
                        </a:rPr>
                        <a:t>Never</a:t>
                      </a:r>
                    </a:p>
                  </a:txBody>
                  <a:tcPr marL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Workload payloads, call transcripts, patient or customer records, prompts, credentials, logs</a:t>
                      </a:r>
                    </a:p>
                  </a:txBody>
                  <a:tcPr marL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65176" y="3520440"/>
            <a:ext cx="4224528" cy="1097280"/>
          </a:xfrm>
          <a:prstGeom prst="roundRect">
            <a:avLst>
              <a:gd name="adj" fmla="val 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Arial"/>
              </a:rPr>
              <a:t>The one external call — disclosed</a:t>
            </a:r>
          </a:p>
          <a:p>
            <a:pPr algn="l">
              <a:spcBef>
                <a:spcPts val="300"/>
              </a:spcBef>
            </a:pPr>
            <a:r>
              <a:rPr sz="800">
                <a:solidFill>
                  <a:srgbClr val="5F6368"/>
                </a:solidFill>
                <a:latin typeface="Arial"/>
              </a:rPr>
              <a:t>The operator's diagnosis runs on Gemini via Vertex AI. The prompt is C0 only, the audit row records egress=external, and one variable (backend=local) puts it back on the node's own weights.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4296" y="3520440"/>
            <a:ext cx="4224528" cy="1097280"/>
          </a:xfrm>
          <a:prstGeom prst="roundRect">
            <a:avLst>
              <a:gd name="adj" fmla="val 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Arial"/>
              </a:rPr>
              <a:t>Why publish the exception</a:t>
            </a:r>
          </a:p>
          <a:p>
            <a:pPr algn="l">
              <a:spcBef>
                <a:spcPts val="300"/>
              </a:spcBef>
            </a:pPr>
            <a:r>
              <a:rPr sz="800">
                <a:solidFill>
                  <a:srgbClr val="5F6368"/>
                </a:solidFill>
                <a:latin typeface="Arial"/>
              </a:rPr>
              <a:t>A boundary you cannot see is not a boundary. The claim is not “nothing leaves” — it is “nothing C2 leaves, and everything that does is named and audited.”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Technologies to be used in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Gemini decides. Gemma stays home.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" y="2057400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109728" rIns="73152" tIns="36576" bIns="36576"/>
          <a:lstStyle/>
          <a:p>
            <a:pPr algn="l"/>
            <a:r>
              <a:rPr sz="1050" b="1">
                <a:solidFill>
                  <a:srgbClr val="202124"/>
                </a:solidFill>
                <a:latin typeface="Arial"/>
              </a:rPr>
              <a:t>Gemini 2.5 Flash · Vertex AI</a:t>
            </a:r>
          </a:p>
          <a:p>
            <a:pPr algn="l">
              <a:spcBef>
                <a:spcPts val="400"/>
              </a:spcBef>
            </a:pPr>
            <a:r>
              <a:rPr sz="819">
                <a:solidFill>
                  <a:srgbClr val="5F6368"/>
                </a:solidFill>
                <a:latin typeface="Arial"/>
              </a:rPr>
              <a:t>The diagnosis — naming the remediation from C0 telemetry. Measured 1.8 s warm. The only call that leaves the premises, and it says so in the audit trail.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72968" y="2057400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109728" rIns="73152" tIns="36576" bIns="36576"/>
          <a:lstStyle/>
          <a:p>
            <a:pPr algn="l"/>
            <a:r>
              <a:rPr sz="1050" b="1">
                <a:solidFill>
                  <a:srgbClr val="202124"/>
                </a:solidFill>
                <a:latin typeface="Arial"/>
              </a:rPr>
              <a:t>Gemma 3 · on the node</a:t>
            </a:r>
          </a:p>
          <a:p>
            <a:pPr algn="l">
              <a:spcBef>
                <a:spcPts val="400"/>
              </a:spcBef>
            </a:pPr>
            <a:r>
              <a:rPr sz="819">
                <a:solidFill>
                  <a:srgbClr val="5F6368"/>
                </a:solidFill>
                <a:latin typeface="Arial"/>
              </a:rPr>
              <a:t>Google's open weights, served by llama.cpp. Automatically detects the inference node, bootstraps the toolchain and leaves it ready for agents — nothing forwarded.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057400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t" wrap="square" lIns="109728" rIns="73152" tIns="36576" bIns="36576"/>
          <a:lstStyle/>
          <a:p>
            <a:pPr algn="l"/>
            <a:r>
              <a:rPr sz="1050" b="1">
                <a:solidFill>
                  <a:srgbClr val="202124"/>
                </a:solidFill>
                <a:latin typeface="Arial"/>
              </a:rPr>
              <a:t>Cloud Run · GPU reference</a:t>
            </a:r>
          </a:p>
          <a:p>
            <a:pPr algn="l">
              <a:spcBef>
                <a:spcPts val="400"/>
              </a:spcBef>
            </a:pPr>
            <a:r>
              <a:rPr sz="819">
                <a:solidFill>
                  <a:srgbClr val="5F6368"/>
                </a:solidFill>
                <a:latin typeface="Arial"/>
              </a:rPr>
              <a:t>The same Gemma on 1× L4 with vLLM — deployed as the managed reference and the shape this takes when GPU quota stops being the blocker.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" y="3703320"/>
            <a:ext cx="86136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 i="0">
                <a:solidFill>
                  <a:srgbClr val="5F6368"/>
                </a:solidFill>
                <a:latin typeface="Arial"/>
              </a:rPr>
              <a:t>GCE controller · GCE node · Firebase Hosting · Cloud Storage (weights) · pre-baked GCE image · LXD · llama.cpp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" y="4160520"/>
            <a:ext cx="86136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202124"/>
                </a:solidFill>
                <a:latin typeface="Arial"/>
              </a:rPr>
              <a:t>Local data uses local models. </a:t>
            </a:r>
            <a:r>
              <a:rPr sz="1200" b="1" i="0">
                <a:solidFill>
                  <a:srgbClr val="1A73E8"/>
                </a:solidFill>
                <a:latin typeface="Arial"/>
              </a:rPr>
              <a:t>Where the customer permits it, Termini integrates with Gemini.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Prototype Performance report/Benchmarking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What runs today,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17830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202124"/>
                </a:solidFill>
                <a:latin typeface="Arial"/>
              </a:rPr>
              <a:t>150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" y="2221991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F6368"/>
                </a:solidFill>
                <a:latin typeface="Arial"/>
              </a:rPr>
              <a:t>Node registration from the pre-baked image — zero installs at boot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17830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88038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2221991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F6368"/>
                </a:solidFill>
                <a:latin typeface="Arial"/>
              </a:rPr>
              <a:t>C2 payloads the controller has ever stored — fail-closed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7830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D93025"/>
                </a:solidFill>
                <a:latin typeface="Arial"/>
              </a:rPr>
              <a:t>422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221991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F6368"/>
                </a:solidFill>
                <a:latin typeface="Arial"/>
              </a:rPr>
              <a:t>A C2 field rejected before any byte is stored, checked three 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" y="29260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202124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" y="3364992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F6368"/>
                </a:solidFill>
                <a:latin typeface="Arial"/>
              </a:rPr>
              <a:t>Remediation decided by the model, executed and audited end to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29260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202124"/>
                </a:solidFill>
                <a:latin typeface="Arial"/>
              </a:rPr>
              <a:t>1.8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3364992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F6368"/>
                </a:solidFill>
                <a:latin typeface="Arial"/>
              </a:rPr>
              <a:t>Diagnosis warm on the managed path — 402 s on local CPU weights, stated not hidden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9260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A73E8"/>
                </a:solidFill>
                <a:latin typeface="Arial"/>
              </a:rP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364992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F6368"/>
                </a:solidFill>
                <a:latin typeface="Arial"/>
              </a:rPr>
              <a:t>On GCE + Firebase + Vertex AI — a judge can open it and 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" y="4224528"/>
            <a:ext cx="8613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5F6368"/>
                </a:solidFill>
                <a:latin typeface="Arial"/>
              </a:rPr>
              <a:t>Three claims, six measurements. </a:t>
            </a:r>
            <a:r>
              <a:rPr sz="1000" b="1" i="0">
                <a:solidFill>
                  <a:srgbClr val="202124"/>
                </a:solidFill>
                <a:latin typeface="Arial"/>
              </a:rPr>
              <a:t>Nothing on this page is a projection.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Snapshots of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The operator, on screen</a:t>
            </a:r>
          </a:p>
        </p:txBody>
      </p:sp>
      <p:pic>
        <p:nvPicPr>
          <p:cNvPr id="7" name="Picture 6" descr="snapshot-inci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1645920"/>
            <a:ext cx="5989320" cy="32278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691640"/>
            <a:ext cx="2468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1" i="0">
                <a:solidFill>
                  <a:srgbClr val="202124"/>
                </a:solidFill>
                <a:latin typeface="Arial"/>
              </a:rPr>
              <a:t>Operator log</a:t>
            </a:r>
          </a:p>
          <a:p>
            <a:pPr algn="l">
              <a:lnSpc>
                <a:spcPct val="114000"/>
              </a:lnSpc>
              <a:spcBef>
                <a:spcPts val="500"/>
              </a:spcBef>
            </a:pPr>
            <a:r>
              <a:rPr sz="819" b="0" i="0">
                <a:solidFill>
                  <a:srgbClr val="5F6368"/>
                </a:solidFill>
                <a:latin typeface="Arial"/>
              </a:rPr>
              <a:t>Every incident: the rule that fired, the model's reasoning, the evidence fields, the action executed and the audit id.</a:t>
            </a:r>
          </a:p>
          <a:p>
            <a:pPr algn="l">
              <a:lnSpc>
                <a:spcPct val="114000"/>
              </a:lnSpc>
              <a:spcBef>
                <a:spcPts val="500"/>
              </a:spcBef>
            </a:pPr>
            <a:r>
              <a:rPr sz="1000" b="1" i="0">
                <a:solidFill>
                  <a:srgbClr val="202124"/>
                </a:solidFill>
                <a:latin typeface="Arial"/>
              </a:rPr>
              <a:t>Fallback visible</a:t>
            </a:r>
          </a:p>
          <a:p>
            <a:pPr algn="l">
              <a:lnSpc>
                <a:spcPct val="114000"/>
              </a:lnSpc>
              <a:spcBef>
                <a:spcPts val="500"/>
              </a:spcBef>
            </a:pPr>
            <a:r>
              <a:rPr sz="819" b="0" i="0">
                <a:solidFill>
                  <a:srgbClr val="5F6368"/>
                </a:solidFill>
                <a:latin typeface="Arial"/>
              </a:rPr>
              <a:t>Decisions the model did not take are labelled deterministic or fallback, in the same list.</a:t>
            </a:r>
          </a:p>
          <a:p>
            <a:pPr algn="l">
              <a:lnSpc>
                <a:spcPct val="114000"/>
              </a:lnSpc>
              <a:spcBef>
                <a:spcPts val="500"/>
              </a:spcBef>
            </a:pPr>
            <a:r>
              <a:rPr sz="1000" b="1" i="0">
                <a:solidFill>
                  <a:srgbClr val="202124"/>
                </a:solidFill>
                <a:latin typeface="Arial"/>
              </a:rPr>
              <a:t>Live</a:t>
            </a:r>
          </a:p>
          <a:p>
            <a:pPr algn="l">
              <a:lnSpc>
                <a:spcPct val="114000"/>
              </a:lnSpc>
              <a:spcBef>
                <a:spcPts val="500"/>
              </a:spcBef>
            </a:pPr>
            <a:r>
              <a:rPr sz="819" b="0" i="0">
                <a:solidFill>
                  <a:srgbClr val="5F6368"/>
                </a:solidFill>
                <a:latin typeface="Arial"/>
              </a:rPr>
              <a:t>termini-510609.web.app — the demo is paused between judging sessions; the resume command is in SUBMISSION.md §3.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Additional Details/Future Development (if any)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From one clinic to a fleet of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17830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02124"/>
                </a:solidFill>
                <a:latin typeface="Arial"/>
              </a:rPr>
              <a:t>Real bare-metal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" y="2020824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>
                <a:solidFill>
                  <a:srgbClr val="5F6368"/>
                </a:solidFill>
                <a:latin typeface="Arial"/>
              </a:rPr>
              <a:t>MAAS + iPXE netboot, so a box arrives from a partner and joins without a technician on site.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17830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02124"/>
                </a:solidFill>
                <a:latin typeface="Arial"/>
              </a:rPr>
              <a:t>A GPU node in the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020824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>
                <a:solidFill>
                  <a:srgbClr val="5F6368"/>
                </a:solidFill>
                <a:latin typeface="Arial"/>
              </a:rPr>
              <a:t>L4 quota is the current blocker; the path is already built and served on Cloud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" y="26974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02124"/>
                </a:solidFill>
                <a:latin typeface="Arial"/>
              </a:rPr>
              <a:t>Learned baselines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" y="2935224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>
                <a:solidFill>
                  <a:srgbClr val="5F6368"/>
                </a:solidFill>
                <a:latin typeface="Arial"/>
              </a:rPr>
              <a:t>Edge anomaly detection replacing static thresholds — the operator learns each site's normal.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6974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02124"/>
                </a:solidFill>
                <a:latin typeface="Arial"/>
              </a:rPr>
              <a:t>Federated eval exchange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935224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>
                <a:solidFill>
                  <a:srgbClr val="5F6368"/>
                </a:solidFill>
                <a:latin typeface="Arial"/>
              </a:rPr>
              <a:t>Evals and weights travel between entities; records don't. The plural-ecosystem mechanism, productised.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" y="36118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02124"/>
                </a:solidFill>
                <a:latin typeface="Arial"/>
              </a:rPr>
              <a:t>Compliance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" y="3849624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>
                <a:solidFill>
                  <a:srgbClr val="5F6368"/>
                </a:solidFill>
                <a:latin typeface="Arial"/>
              </a:rPr>
              <a:t>GDPR, EU AI Act, Korea PIPA, India DPDP posture mapped onto the C0/C1/C2 boundary.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6118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202124"/>
                </a:solidFill>
                <a:latin typeface="Arial"/>
              </a:rPr>
              <a:t>Hardware partner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3849624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>
                <a:solidFill>
                  <a:srgbClr val="5F6368"/>
                </a:solidFill>
                <a:latin typeface="Arial"/>
              </a:rPr>
              <a:t>The box is commodity; the operator is the product. Partners sell metal, we run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_png_8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01768"/>
            <a:ext cx="9144000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t" wrap="square" lIns="73152" rIns="73152" tIns="36576" bIns="36576"/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265176" y="71323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02124"/>
                </a:solidFill>
                <a:latin typeface="Google Sans Flex Medium"/>
              </a:rPr>
              <a:t>Provide links to your: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731520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AA0A6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" y="1042415"/>
            <a:ext cx="86136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202124"/>
                </a:solidFill>
                <a:latin typeface="Arial"/>
              </a:rPr>
              <a:t>Links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02124"/>
                </a:solidFill>
                <a:latin typeface="Arial"/>
              </a:rPr>
              <a:t>GitHub public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A73E8"/>
                </a:solidFill>
                <a:latin typeface="Arial"/>
                <a:hlinkClick r:id="rId3"/>
              </a:rPr>
              <a:t>github.com/yanksyoon/termini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" y="2487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02124"/>
                </a:solidFill>
                <a:latin typeface="Arial"/>
              </a:rPr>
              <a:t>Demo video (3 minutes)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8716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B06000"/>
                </a:solidFill>
                <a:latin typeface="Arial"/>
              </a:rPr>
              <a:t>script ready — recording is the pending human step (SUBMISSION.md §5)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" y="31455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02124"/>
                </a:solidFill>
                <a:latin typeface="Arial"/>
              </a:rPr>
              <a:t>Final product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4553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A73E8"/>
                </a:solidFill>
                <a:latin typeface="Arial"/>
                <a:hlinkClick r:id="rId4"/>
              </a:rPr>
              <a:t>termini-510609.web.app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" y="380390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02124"/>
                </a:solidFill>
                <a:latin typeface="Arial"/>
              </a:rPr>
              <a:t>Live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80390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A73E8"/>
                </a:solidFill>
                <a:latin typeface="Arial"/>
                <a:hlinkClick r:id="rId5"/>
              </a:rPr>
              <a:t>34-93-190-64.sslip.io/v1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" y="4526280"/>
            <a:ext cx="8613648" cy="10972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16" name="TextBox 15"/>
          <p:cNvSpPr txBox="1"/>
          <p:nvPr/>
        </p:nvSpPr>
        <p:spPr>
          <a:xfrm>
            <a:off x="265176" y="4617720"/>
            <a:ext cx="8613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AA0A6"/>
                </a:solidFill>
                <a:latin typeface="Arial"/>
              </a:rPr>
              <a:t>The dashboard opens with no credential in the URL; sign in with the project token once (Settings → sign in).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_1_png_1866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0" y="2121408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The doctor built it alone.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The next one won't have 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28529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BDC1C6"/>
                </a:solidFill>
                <a:latin typeface="Arial"/>
              </a:rPr>
              <a:t>Your hardware. Your data. Our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